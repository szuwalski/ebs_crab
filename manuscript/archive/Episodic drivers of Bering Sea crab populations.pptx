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82" r:id="rId6"/>
    <p:sldId id="261" r:id="rId7"/>
    <p:sldId id="265" r:id="rId8"/>
    <p:sldId id="266" r:id="rId9"/>
    <p:sldId id="260" r:id="rId10"/>
    <p:sldId id="262" r:id="rId11"/>
    <p:sldId id="263" r:id="rId12"/>
    <p:sldId id="274" r:id="rId13"/>
    <p:sldId id="278" r:id="rId14"/>
    <p:sldId id="275" r:id="rId15"/>
    <p:sldId id="276" r:id="rId16"/>
    <p:sldId id="277" r:id="rId17"/>
    <p:sldId id="279" r:id="rId18"/>
    <p:sldId id="281" r:id="rId19"/>
    <p:sldId id="289" r:id="rId20"/>
    <p:sldId id="288" r:id="rId21"/>
    <p:sldId id="283" r:id="rId22"/>
    <p:sldId id="286" r:id="rId23"/>
    <p:sldId id="291" r:id="rId24"/>
    <p:sldId id="290" r:id="rId25"/>
    <p:sldId id="272" r:id="rId26"/>
    <p:sldId id="284" r:id="rId27"/>
    <p:sldId id="2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84" d="100"/>
          <a:sy n="84" d="100"/>
        </p:scale>
        <p:origin x="3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88ED-B3EB-4283-A38C-ECFEE85B8F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CF7C3-9537-448F-BC9B-AE8B51FE2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2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88ED-B3EB-4283-A38C-ECFEE85B8F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CF7C3-9537-448F-BC9B-AE8B51FE2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89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88ED-B3EB-4283-A38C-ECFEE85B8F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CF7C3-9537-448F-BC9B-AE8B51FE2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37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88ED-B3EB-4283-A38C-ECFEE85B8F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CF7C3-9537-448F-BC9B-AE8B51FE2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88ED-B3EB-4283-A38C-ECFEE85B8F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CF7C3-9537-448F-BC9B-AE8B51FE2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48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88ED-B3EB-4283-A38C-ECFEE85B8F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CF7C3-9537-448F-BC9B-AE8B51FE2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04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88ED-B3EB-4283-A38C-ECFEE85B8F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CF7C3-9537-448F-BC9B-AE8B51FE2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4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88ED-B3EB-4283-A38C-ECFEE85B8F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CF7C3-9537-448F-BC9B-AE8B51FE2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96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88ED-B3EB-4283-A38C-ECFEE85B8F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CF7C3-9537-448F-BC9B-AE8B51FE2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7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88ED-B3EB-4283-A38C-ECFEE85B8F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CF7C3-9537-448F-BC9B-AE8B51FE2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67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88ED-B3EB-4283-A38C-ECFEE85B8F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CF7C3-9537-448F-BC9B-AE8B51FE2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7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788ED-B3EB-4283-A38C-ECFEE85B8FC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CF7C3-9537-448F-BC9B-AE8B51FE2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6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Episodic drivers of Bering Sea crab populations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Cody </a:t>
            </a:r>
            <a:r>
              <a:rPr lang="en-US" dirty="0" err="1" smtClean="0"/>
              <a:t>Szuwalski</a:t>
            </a:r>
            <a:endParaRPr lang="en-US" dirty="0" smtClean="0"/>
          </a:p>
          <a:p>
            <a:r>
              <a:rPr lang="en-US" dirty="0" smtClean="0"/>
              <a:t>January 2025</a:t>
            </a:r>
          </a:p>
          <a:p>
            <a:r>
              <a:rPr lang="en-US" dirty="0" smtClean="0"/>
              <a:t>Anchorage, 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9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254125"/>
            <a:ext cx="6149686" cy="5153602"/>
          </a:xfrm>
        </p:spPr>
        <p:txBody>
          <a:bodyPr>
            <a:normAutofit/>
          </a:bodyPr>
          <a:lstStyle/>
          <a:p>
            <a:r>
              <a:rPr lang="en-US" dirty="0" smtClean="0"/>
              <a:t>Highly variable population dynamics</a:t>
            </a:r>
          </a:p>
          <a:p>
            <a:r>
              <a:rPr lang="en-US" dirty="0" smtClean="0"/>
              <a:t>Potential for unobserved mortality in non-directed fisheries</a:t>
            </a:r>
            <a:endParaRPr lang="en-US" dirty="0"/>
          </a:p>
          <a:p>
            <a:r>
              <a:rPr lang="en-US" dirty="0" smtClean="0"/>
              <a:t>Use of periods of elevated mortality in assessments</a:t>
            </a:r>
          </a:p>
          <a:p>
            <a:endParaRPr lang="en-US" dirty="0"/>
          </a:p>
          <a:p>
            <a:r>
              <a:rPr lang="en-US" dirty="0" smtClean="0"/>
              <a:t>Directed fishing is assumed to be the key driver of dynamics in classical fisheries science…if that’s not the case, it might change how we think about management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90" b="56818"/>
          <a:stretch/>
        </p:blipFill>
        <p:spPr>
          <a:xfrm>
            <a:off x="6747156" y="69267"/>
            <a:ext cx="5044866" cy="31657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" t="5682" r="47280" b="46464"/>
          <a:stretch/>
        </p:blipFill>
        <p:spPr>
          <a:xfrm>
            <a:off x="6747155" y="3366652"/>
            <a:ext cx="5717733" cy="349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0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434" y="2307473"/>
            <a:ext cx="11220759" cy="1325563"/>
          </a:xfrm>
        </p:spPr>
        <p:txBody>
          <a:bodyPr/>
          <a:lstStyle/>
          <a:p>
            <a:r>
              <a:rPr lang="en-US" dirty="0" smtClean="0"/>
              <a:t>Can we model variation in ‘other’ mortality?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79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Population 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28" y="1325563"/>
            <a:ext cx="5650097" cy="4989514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Size structured models in ADMB</a:t>
            </a:r>
          </a:p>
          <a:p>
            <a:r>
              <a:rPr lang="en-US" dirty="0" smtClean="0"/>
              <a:t>Male only</a:t>
            </a:r>
          </a:p>
          <a:p>
            <a:r>
              <a:rPr lang="en-US" dirty="0" smtClean="0"/>
              <a:t>Only directed fishery incorporated</a:t>
            </a:r>
          </a:p>
          <a:p>
            <a:r>
              <a:rPr lang="en-US" dirty="0" smtClean="0"/>
              <a:t>Estimate time-varying:</a:t>
            </a:r>
          </a:p>
          <a:p>
            <a:pPr lvl="1"/>
            <a:r>
              <a:rPr lang="en-US" dirty="0" smtClean="0"/>
              <a:t>Recruitment</a:t>
            </a:r>
          </a:p>
          <a:p>
            <a:pPr lvl="1"/>
            <a:r>
              <a:rPr lang="en-US" dirty="0" smtClean="0"/>
              <a:t>Directed fishing mortality</a:t>
            </a:r>
          </a:p>
          <a:p>
            <a:pPr lvl="1"/>
            <a:r>
              <a:rPr lang="en-US" dirty="0" smtClean="0"/>
              <a:t>“Other” mortality</a:t>
            </a:r>
          </a:p>
          <a:p>
            <a:pPr lvl="2"/>
            <a:r>
              <a:rPr lang="en-US" dirty="0" smtClean="0"/>
              <a:t>Predation, starvation, disease, senescence</a:t>
            </a:r>
          </a:p>
          <a:p>
            <a:pPr lvl="2"/>
            <a:r>
              <a:rPr lang="en-US" dirty="0" smtClean="0"/>
              <a:t>Non-directed bycatch</a:t>
            </a:r>
          </a:p>
          <a:p>
            <a:r>
              <a:rPr lang="en-US" dirty="0" smtClean="0"/>
              <a:t>Estimate invariant:</a:t>
            </a:r>
          </a:p>
          <a:p>
            <a:pPr lvl="1"/>
            <a:r>
              <a:rPr lang="en-US" dirty="0" smtClean="0"/>
              <a:t>Probability of maturing (King crab)</a:t>
            </a:r>
          </a:p>
          <a:p>
            <a:pPr lvl="1"/>
            <a:r>
              <a:rPr lang="en-US" dirty="0" smtClean="0"/>
              <a:t>Total and retained fishery selectivity</a:t>
            </a:r>
          </a:p>
          <a:p>
            <a:pPr lvl="1"/>
            <a:r>
              <a:rPr lang="en-US" dirty="0" smtClean="0"/>
              <a:t>Survey selectivity (informed by BSFRF data)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985041"/>
              </p:ext>
            </p:extLst>
          </p:nvPr>
        </p:nvGraphicFramePr>
        <p:xfrm>
          <a:off x="5862748" y="1684867"/>
          <a:ext cx="6109511" cy="28346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482543">
                  <a:extLst>
                    <a:ext uri="{9D8B030D-6E8A-4147-A177-3AD203B41FA5}">
                      <a16:colId xmlns:a16="http://schemas.microsoft.com/office/drawing/2014/main" val="1588288937"/>
                    </a:ext>
                  </a:extLst>
                </a:gridCol>
                <a:gridCol w="1207555">
                  <a:extLst>
                    <a:ext uri="{9D8B030D-6E8A-4147-A177-3AD203B41FA5}">
                      <a16:colId xmlns:a16="http://schemas.microsoft.com/office/drawing/2014/main" val="4063786222"/>
                    </a:ext>
                  </a:extLst>
                </a:gridCol>
                <a:gridCol w="1578191">
                  <a:extLst>
                    <a:ext uri="{9D8B030D-6E8A-4147-A177-3AD203B41FA5}">
                      <a16:colId xmlns:a16="http://schemas.microsoft.com/office/drawing/2014/main" val="196360959"/>
                    </a:ext>
                  </a:extLst>
                </a:gridCol>
                <a:gridCol w="1841222">
                  <a:extLst>
                    <a:ext uri="{9D8B030D-6E8A-4147-A177-3AD203B41FA5}">
                      <a16:colId xmlns:a16="http://schemas.microsoft.com/office/drawing/2014/main" val="633799031"/>
                    </a:ext>
                  </a:extLst>
                </a:gridCol>
              </a:tblGrid>
              <a:tr h="604427">
                <a:tc>
                  <a:txBody>
                    <a:bodyPr/>
                    <a:lstStyle/>
                    <a:p>
                      <a:r>
                        <a:rPr lang="en-US" dirty="0" smtClean="0"/>
                        <a:t>Stock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Sizes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Prior on ‘other</a:t>
                      </a:r>
                      <a:r>
                        <a:rPr lang="en-US" baseline="0" dirty="0" smtClean="0"/>
                        <a:t> mortality’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Year</a:t>
                      </a:r>
                      <a:r>
                        <a:rPr lang="en-US" baseline="0" dirty="0" smtClean="0"/>
                        <a:t> range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170739"/>
                  </a:ext>
                </a:extLst>
              </a:tr>
              <a:tr h="173704">
                <a:tc>
                  <a:txBody>
                    <a:bodyPr/>
                    <a:lstStyle/>
                    <a:p>
                      <a:r>
                        <a:rPr lang="en-US" dirty="0" smtClean="0"/>
                        <a:t>Snow crab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30-135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1982-2023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210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Tanner crab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25-185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1975-2023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997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BBRKC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45-170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1975-2023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381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PIRKC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45-220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1976-2023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142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SMBKC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45-170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1978-2023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177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PIBKC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45-200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1975-2023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529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35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Population 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28" y="1325563"/>
            <a:ext cx="5650097" cy="4989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Time-varying mortality estimation</a:t>
            </a:r>
          </a:p>
          <a:p>
            <a:r>
              <a:rPr lang="en-US" dirty="0" smtClean="0"/>
              <a:t>Estimate mean with prior</a:t>
            </a:r>
          </a:p>
          <a:p>
            <a:r>
              <a:rPr lang="en-US" dirty="0" smtClean="0"/>
              <a:t>Estimate a </a:t>
            </a:r>
            <a:r>
              <a:rPr lang="en-US" dirty="0" err="1" smtClean="0"/>
              <a:t>dev_vector</a:t>
            </a:r>
            <a:r>
              <a:rPr lang="en-US" dirty="0" smtClean="0"/>
              <a:t> around mean</a:t>
            </a:r>
          </a:p>
          <a:p>
            <a:r>
              <a:rPr lang="en-US" dirty="0" smtClean="0"/>
              <a:t>Add penalty on yearly estimate from mean for stability (similar to a random effect’s variance, but not estimated)</a:t>
            </a:r>
          </a:p>
          <a:p>
            <a:r>
              <a:rPr lang="en-US" dirty="0" smtClean="0"/>
              <a:t>Possibility for a smoothness penalty on time series for stability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862748" y="1684867"/>
          <a:ext cx="6109511" cy="28346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482543">
                  <a:extLst>
                    <a:ext uri="{9D8B030D-6E8A-4147-A177-3AD203B41FA5}">
                      <a16:colId xmlns:a16="http://schemas.microsoft.com/office/drawing/2014/main" val="1588288937"/>
                    </a:ext>
                  </a:extLst>
                </a:gridCol>
                <a:gridCol w="1207555">
                  <a:extLst>
                    <a:ext uri="{9D8B030D-6E8A-4147-A177-3AD203B41FA5}">
                      <a16:colId xmlns:a16="http://schemas.microsoft.com/office/drawing/2014/main" val="4063786222"/>
                    </a:ext>
                  </a:extLst>
                </a:gridCol>
                <a:gridCol w="1578191">
                  <a:extLst>
                    <a:ext uri="{9D8B030D-6E8A-4147-A177-3AD203B41FA5}">
                      <a16:colId xmlns:a16="http://schemas.microsoft.com/office/drawing/2014/main" val="196360959"/>
                    </a:ext>
                  </a:extLst>
                </a:gridCol>
                <a:gridCol w="1841222">
                  <a:extLst>
                    <a:ext uri="{9D8B030D-6E8A-4147-A177-3AD203B41FA5}">
                      <a16:colId xmlns:a16="http://schemas.microsoft.com/office/drawing/2014/main" val="633799031"/>
                    </a:ext>
                  </a:extLst>
                </a:gridCol>
              </a:tblGrid>
              <a:tr h="604427">
                <a:tc>
                  <a:txBody>
                    <a:bodyPr/>
                    <a:lstStyle/>
                    <a:p>
                      <a:r>
                        <a:rPr lang="en-US" dirty="0" smtClean="0"/>
                        <a:t>Stock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Sizes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Prior on ‘other</a:t>
                      </a:r>
                      <a:r>
                        <a:rPr lang="en-US" baseline="0" dirty="0" smtClean="0"/>
                        <a:t> mortality’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Year</a:t>
                      </a:r>
                      <a:r>
                        <a:rPr lang="en-US" baseline="0" dirty="0" smtClean="0"/>
                        <a:t> range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170739"/>
                  </a:ext>
                </a:extLst>
              </a:tr>
              <a:tr h="173704">
                <a:tc>
                  <a:txBody>
                    <a:bodyPr/>
                    <a:lstStyle/>
                    <a:p>
                      <a:r>
                        <a:rPr lang="en-US" dirty="0" smtClean="0"/>
                        <a:t>Snow crab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30-135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1982-2023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210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Tanner crab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25-185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1975-2023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997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BBRKC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45-170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1975-2023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381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PIRKC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45-220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1976-2023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142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SMBKC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45-170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1978-2023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177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PIBKC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45-200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1975-2023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529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16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04" y="6368"/>
            <a:ext cx="10277447" cy="6851632"/>
          </a:xfrm>
        </p:spPr>
      </p:pic>
    </p:spTree>
    <p:extLst>
      <p:ext uri="{BB962C8B-B14F-4D97-AF65-F5344CB8AC3E}">
        <p14:creationId xmlns:p14="http://schemas.microsoft.com/office/powerpoint/2010/main" val="232567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0453"/>
            <a:ext cx="10515600" cy="1325563"/>
          </a:xfrm>
        </p:spPr>
        <p:txBody>
          <a:bodyPr/>
          <a:lstStyle/>
          <a:p>
            <a:r>
              <a:rPr lang="en-US" dirty="0" smtClean="0"/>
              <a:t>What are these models?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093" y="1115070"/>
            <a:ext cx="10397835" cy="5361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 smtClean="0"/>
              <a:t>A framework to ask ecologically relevant questions</a:t>
            </a:r>
            <a:r>
              <a:rPr lang="en-US" dirty="0" smtClean="0"/>
              <a:t> like: 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Can </a:t>
            </a:r>
            <a:r>
              <a:rPr lang="en-US" dirty="0"/>
              <a:t>we assign episodes of volatility to directed fishing, recruitment, or ‘other’ </a:t>
            </a:r>
            <a:r>
              <a:rPr lang="en-US" dirty="0" smtClean="0"/>
              <a:t>mortality?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Are </a:t>
            </a:r>
            <a:r>
              <a:rPr lang="en-US" dirty="0"/>
              <a:t>there relationship among processes </a:t>
            </a:r>
            <a:r>
              <a:rPr lang="en-US" dirty="0" smtClean="0"/>
              <a:t>within and/or among species?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Can </a:t>
            </a:r>
            <a:r>
              <a:rPr lang="en-US" dirty="0"/>
              <a:t>we identify environmental covariates that explain variance in estimated </a:t>
            </a:r>
            <a:r>
              <a:rPr lang="en-US" dirty="0" smtClean="0"/>
              <a:t>processes?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How </a:t>
            </a:r>
            <a:r>
              <a:rPr lang="en-US" dirty="0"/>
              <a:t>well can these processes be </a:t>
            </a:r>
            <a:r>
              <a:rPr lang="en-US" dirty="0" smtClean="0"/>
              <a:t>estimated under different circumstances </a:t>
            </a:r>
            <a:r>
              <a:rPr lang="en-US" dirty="0"/>
              <a:t>(simulation</a:t>
            </a:r>
            <a:r>
              <a:rPr lang="en-US" dirty="0" smtClean="0"/>
              <a:t>)?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1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What are these models </a:t>
            </a:r>
            <a:r>
              <a:rPr lang="en-US" i="1" dirty="0" smtClean="0"/>
              <a:t>not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265" y="1325563"/>
            <a:ext cx="11325044" cy="4351338"/>
          </a:xfrm>
        </p:spPr>
        <p:txBody>
          <a:bodyPr/>
          <a:lstStyle/>
          <a:p>
            <a:r>
              <a:rPr lang="en-US" dirty="0" smtClean="0"/>
              <a:t>A replacement for GMACS</a:t>
            </a:r>
          </a:p>
          <a:p>
            <a:endParaRPr lang="en-US" dirty="0" smtClean="0"/>
          </a:p>
          <a:p>
            <a:r>
              <a:rPr lang="en-US" dirty="0" smtClean="0"/>
              <a:t>Designed to provide management advice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Definitive estimates of other mortality</a:t>
            </a:r>
          </a:p>
          <a:p>
            <a:pPr lvl="1"/>
            <a:r>
              <a:rPr lang="en-US" dirty="0" smtClean="0"/>
              <a:t>Time-variation in mortality can alias for other processes like selectivity or growth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74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018" y="0"/>
            <a:ext cx="9662817" cy="72471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131085" y="3065543"/>
            <a:ext cx="4835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solidFill>
                  <a:srgbClr val="FF0000"/>
                </a:solidFill>
              </a:rPr>
              <a:t>PRELIMINARY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36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950" y="-1"/>
            <a:ext cx="10632330" cy="70882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31085" y="3328679"/>
            <a:ext cx="4835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solidFill>
                  <a:srgbClr val="FF0000"/>
                </a:solidFill>
              </a:rPr>
              <a:t>PRELIMINARY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19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CPT requests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366" y="1091979"/>
            <a:ext cx="11559363" cy="5521472"/>
          </a:xfrm>
        </p:spPr>
        <p:txBody>
          <a:bodyPr/>
          <a:lstStyle/>
          <a:p>
            <a:r>
              <a:rPr lang="en-US" dirty="0" smtClean="0"/>
              <a:t>Assessment authors:</a:t>
            </a:r>
          </a:p>
          <a:p>
            <a:pPr lvl="1"/>
            <a:r>
              <a:rPr lang="en-US" dirty="0" smtClean="0"/>
              <a:t>Look at code to check data and assumptions like:</a:t>
            </a:r>
          </a:p>
          <a:p>
            <a:pPr lvl="2"/>
            <a:r>
              <a:rPr lang="en-US" dirty="0" smtClean="0"/>
              <a:t>Input data</a:t>
            </a:r>
          </a:p>
          <a:p>
            <a:pPr lvl="2"/>
            <a:r>
              <a:rPr lang="en-US" dirty="0" smtClean="0"/>
              <a:t>Timing of fishery</a:t>
            </a:r>
          </a:p>
          <a:p>
            <a:pPr lvl="2"/>
            <a:r>
              <a:rPr lang="en-US" dirty="0" smtClean="0"/>
              <a:t>Prior on other mortality</a:t>
            </a:r>
          </a:p>
          <a:p>
            <a:pPr lvl="2"/>
            <a:r>
              <a:rPr lang="en-US" dirty="0" smtClean="0"/>
              <a:t>Lag of recruitment</a:t>
            </a:r>
          </a:p>
          <a:p>
            <a:pPr lvl="2"/>
            <a:r>
              <a:rPr lang="en-US" dirty="0" smtClean="0"/>
              <a:t>Size transition matrices + molting probabilities</a:t>
            </a:r>
            <a:endParaRPr lang="en-US" dirty="0"/>
          </a:p>
          <a:p>
            <a:r>
              <a:rPr lang="en-US" dirty="0" smtClean="0"/>
              <a:t>Thoughts on if the estimated time series are ‘true’, how this changes your approach to management?</a:t>
            </a:r>
          </a:p>
          <a:p>
            <a:r>
              <a:rPr lang="en-US" dirty="0" smtClean="0"/>
              <a:t>How does one manage a stock that doesn’t display a SR curve and has strong episodic drivers of both mortality and recruitment?</a:t>
            </a:r>
          </a:p>
          <a:p>
            <a:endParaRPr lang="en-US" dirty="0" smtClean="0"/>
          </a:p>
          <a:p>
            <a:r>
              <a:rPr lang="en-US" dirty="0" smtClean="0"/>
              <a:t>Inviting the CPT and assessment authors to be coauthors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869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434" y="2307473"/>
            <a:ext cx="11220759" cy="1325563"/>
          </a:xfrm>
        </p:spPr>
        <p:txBody>
          <a:bodyPr/>
          <a:lstStyle/>
          <a:p>
            <a:r>
              <a:rPr lang="en-US" dirty="0" smtClean="0"/>
              <a:t>Can we model variation in ‘other’ mortality?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276165" y="3633036"/>
            <a:ext cx="3711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MAYBE</a:t>
            </a:r>
            <a:r>
              <a:rPr lang="en-US" sz="3200" b="1" dirty="0" smtClean="0">
                <a:solidFill>
                  <a:srgbClr val="FF0000"/>
                </a:solidFill>
              </a:rPr>
              <a:t> </a:t>
            </a:r>
            <a:r>
              <a:rPr lang="en-US" sz="3200" b="1" dirty="0" smtClean="0">
                <a:solidFill>
                  <a:srgbClr val="FF0000"/>
                </a:solidFill>
              </a:rPr>
              <a:t>(now what?)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62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826" y="1680808"/>
            <a:ext cx="10515600" cy="3081966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Tell the story of our stocks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Is current management appropriate?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79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9964" y="329453"/>
            <a:ext cx="1135604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What </a:t>
            </a:r>
            <a:r>
              <a:rPr lang="en-US" sz="3200" b="1" dirty="0" smtClean="0"/>
              <a:t>happened?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Are </a:t>
            </a:r>
            <a:r>
              <a:rPr lang="en-US" sz="3200" dirty="0"/>
              <a:t>collapses linked to recruitment or </a:t>
            </a:r>
            <a:r>
              <a:rPr lang="en-US" sz="3200" dirty="0" smtClean="0"/>
              <a:t>mortality?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Did </a:t>
            </a:r>
            <a:r>
              <a:rPr lang="en-US" sz="3200" b="1" dirty="0"/>
              <a:t>‘it’ happen to other stocks </a:t>
            </a:r>
            <a:r>
              <a:rPr lang="en-US" sz="3200" b="1" dirty="0" smtClean="0"/>
              <a:t>too?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Does </a:t>
            </a:r>
            <a:r>
              <a:rPr lang="en-US" sz="3200" dirty="0"/>
              <a:t>recruitment </a:t>
            </a:r>
            <a:r>
              <a:rPr lang="en-US" sz="3200" dirty="0" err="1"/>
              <a:t>covary</a:t>
            </a:r>
            <a:r>
              <a:rPr lang="en-US" sz="3200" dirty="0"/>
              <a:t> across </a:t>
            </a:r>
            <a:r>
              <a:rPr lang="en-US" sz="3200" dirty="0" smtClean="0"/>
              <a:t>stocks?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Why </a:t>
            </a:r>
            <a:r>
              <a:rPr lang="en-US" sz="3200" b="1" dirty="0"/>
              <a:t>did it </a:t>
            </a:r>
            <a:r>
              <a:rPr lang="en-US" sz="3200" b="1" dirty="0" smtClean="0"/>
              <a:t>happen?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Can we use environmental or population processes to explain variability over time?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 smtClean="0"/>
              <a:t>What’s happens next?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How might warming impact the stocks?</a:t>
            </a:r>
          </a:p>
        </p:txBody>
      </p:sp>
    </p:spTree>
    <p:extLst>
      <p:ext uri="{BB962C8B-B14F-4D97-AF65-F5344CB8AC3E}">
        <p14:creationId xmlns:p14="http://schemas.microsoft.com/office/powerpoint/2010/main" val="188661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762" y="808598"/>
            <a:ext cx="7758907" cy="581918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67252"/>
            <a:ext cx="10515600" cy="1325563"/>
          </a:xfrm>
        </p:spPr>
        <p:txBody>
          <a:bodyPr/>
          <a:lstStyle/>
          <a:p>
            <a:r>
              <a:rPr lang="en-US" b="1" dirty="0" smtClean="0"/>
              <a:t>What happened?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14746" y="1392815"/>
            <a:ext cx="421871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For example: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“XX% of decreases in abundance &gt;XX% relative to the historical average were a result of mortality/recruitment”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“The collapse of Bristol Bay red king crab in the early 1980s was a confluence of unfortunate events, some controllable by management, others not. Recruitment collapsed in 1978, exceptionally high fishing mortality occurred in 1980 and 1981, and ‘other mortality’ was elevated from 1978-1984.”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When we saw a large YOY decline or increase, was that related to recruitment, fishing, or other mortality?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25709" y="3486562"/>
            <a:ext cx="4835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solidFill>
                  <a:srgbClr val="FF0000"/>
                </a:solidFill>
              </a:rPr>
              <a:t>PRELIMINARY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77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67252"/>
            <a:ext cx="10515600" cy="1325563"/>
          </a:xfrm>
        </p:spPr>
        <p:txBody>
          <a:bodyPr/>
          <a:lstStyle/>
          <a:p>
            <a:r>
              <a:rPr lang="en-US" b="1" dirty="0" smtClean="0"/>
              <a:t>Did ‘it’ happen to other stocks?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14745" y="1392815"/>
            <a:ext cx="57913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Calculate correlations between population processes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Examples for king crab:</a:t>
            </a:r>
          </a:p>
          <a:p>
            <a:pPr algn="just"/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Large </a:t>
            </a:r>
            <a:r>
              <a:rPr lang="en-US" dirty="0"/>
              <a:t>positive correlations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BBRKC total abundance + recruits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PIBKC + BBRKC </a:t>
            </a:r>
            <a:r>
              <a:rPr lang="en-US" dirty="0" smtClean="0"/>
              <a:t>+ SMBKC abundance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BBRKC </a:t>
            </a:r>
            <a:r>
              <a:rPr lang="en-US" dirty="0"/>
              <a:t>recruits + PIBKC abundance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SMBKC + PIBKC abundance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PIRKC other mortality + </a:t>
            </a:r>
            <a:r>
              <a:rPr lang="en-US" dirty="0" smtClean="0"/>
              <a:t>abundance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 negative correlations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PIBKC recruits + PIRKC abundance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PIRKC + BBRKC abundance</a:t>
            </a:r>
          </a:p>
          <a:p>
            <a:pPr algn="just"/>
            <a:endParaRPr lang="en-US" dirty="0"/>
          </a:p>
        </p:txBody>
      </p:sp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9" y="1018308"/>
            <a:ext cx="5614751" cy="5614751"/>
          </a:xfrm>
        </p:spPr>
      </p:pic>
    </p:spTree>
    <p:extLst>
      <p:ext uri="{BB962C8B-B14F-4D97-AF65-F5344CB8AC3E}">
        <p14:creationId xmlns:p14="http://schemas.microsoft.com/office/powerpoint/2010/main" val="2727840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014" y="41114"/>
            <a:ext cx="4648755" cy="34865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67252"/>
            <a:ext cx="10515600" cy="1325563"/>
          </a:xfrm>
        </p:spPr>
        <p:txBody>
          <a:bodyPr/>
          <a:lstStyle/>
          <a:p>
            <a:r>
              <a:rPr lang="en-US" b="1" dirty="0" smtClean="0"/>
              <a:t>Why did ‘it’ happen?</a:t>
            </a: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243" y="3393634"/>
            <a:ext cx="4566526" cy="34248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8961" y="1182305"/>
            <a:ext cx="521244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Build models to explain variability in processes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Example models:</a:t>
            </a:r>
          </a:p>
          <a:p>
            <a:pPr algn="just"/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Recruitment ~ s(Abundance) + s(Temp) + s(Size)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(+ competitor in PIs?)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Mortality ~ s(Abundance) + s(Temp) + s(Size)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Temperature occupied = </a:t>
            </a:r>
            <a:r>
              <a:rPr lang="en-US" dirty="0" err="1" smtClean="0"/>
              <a:t>cpue</a:t>
            </a:r>
            <a:r>
              <a:rPr lang="en-US" dirty="0" smtClean="0"/>
              <a:t> weighted bottom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Size = </a:t>
            </a:r>
            <a:r>
              <a:rPr lang="en-US" dirty="0" err="1" smtClean="0"/>
              <a:t>cpue</a:t>
            </a:r>
            <a:r>
              <a:rPr lang="en-US" dirty="0" smtClean="0"/>
              <a:t> weighted average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(</a:t>
            </a:r>
            <a:r>
              <a:rPr lang="en-US" dirty="0"/>
              <a:t>insert other covariates here…perhaps from ESP)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330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67252"/>
            <a:ext cx="10515600" cy="1325563"/>
          </a:xfrm>
        </p:spPr>
        <p:txBody>
          <a:bodyPr/>
          <a:lstStyle/>
          <a:p>
            <a:r>
              <a:rPr lang="en-US" b="1" dirty="0" smtClean="0"/>
              <a:t>Why did ‘it’ happen?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48961" y="1182305"/>
            <a:ext cx="521244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Build models to explain variability in processes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Example models:</a:t>
            </a:r>
          </a:p>
          <a:p>
            <a:pPr algn="just"/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Recruitment ~ s(Abundance) + s(Temp) + s(Size)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Mortality ~ s(Abundance) + s(Temp) + s(Size)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Temperature occupied = </a:t>
            </a:r>
            <a:r>
              <a:rPr lang="en-US" dirty="0" err="1" smtClean="0"/>
              <a:t>cpue</a:t>
            </a:r>
            <a:r>
              <a:rPr lang="en-US" dirty="0" smtClean="0"/>
              <a:t> weighted bottom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Size = </a:t>
            </a:r>
            <a:r>
              <a:rPr lang="en-US" dirty="0" err="1" smtClean="0"/>
              <a:t>cpue</a:t>
            </a:r>
            <a:r>
              <a:rPr lang="en-US" dirty="0" smtClean="0"/>
              <a:t> weighted average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(insert other covariates here…perhaps from ESP)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269" y="67252"/>
            <a:ext cx="6858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51903" y="3085278"/>
            <a:ext cx="4835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solidFill>
                  <a:srgbClr val="FF0000"/>
                </a:solidFill>
              </a:rPr>
              <a:t>PRELIMINARY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67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67252"/>
            <a:ext cx="10515600" cy="1325563"/>
          </a:xfrm>
        </p:spPr>
        <p:txBody>
          <a:bodyPr/>
          <a:lstStyle/>
          <a:p>
            <a:r>
              <a:rPr lang="en-US" b="1" dirty="0" smtClean="0"/>
              <a:t>What happens next?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48961" y="1182305"/>
            <a:ext cx="521244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Project forward under climate and fishing scenarios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Snow crab:</a:t>
            </a:r>
          </a:p>
          <a:p>
            <a:pPr algn="just"/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Historical environmental conditions vs. warming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Where to incorporate uncertainty?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Estimated assessment parameters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Estimated relationships to environmental 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Projections of important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What is needed to place confidence in a given projections?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314" y="346888"/>
            <a:ext cx="6401045" cy="640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924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67252"/>
            <a:ext cx="10515600" cy="1325563"/>
          </a:xfrm>
        </p:spPr>
        <p:txBody>
          <a:bodyPr/>
          <a:lstStyle/>
          <a:p>
            <a:r>
              <a:rPr lang="en-US" b="1" dirty="0" smtClean="0"/>
              <a:t>What happens next?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48961" y="1182305"/>
            <a:ext cx="521244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Project forward under climate and fishing scenarios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Snow crab:</a:t>
            </a:r>
          </a:p>
          <a:p>
            <a:pPr algn="just"/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Historical environmental conditions vs. warming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Where to incorporate uncertainty?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Estimated assessment parameters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Estimated relationships to environmental 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Projections of important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What is needed to place confidence in a given projections?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314" y="346888"/>
            <a:ext cx="6401045" cy="640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63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Arguments against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Mortality can alias for variability in other processes</a:t>
            </a:r>
          </a:p>
          <a:p>
            <a:endParaRPr lang="en-US" dirty="0"/>
          </a:p>
          <a:p>
            <a:r>
              <a:rPr lang="en-US" dirty="0" smtClean="0"/>
              <a:t>Time varying mortality makes reference point calculation harder</a:t>
            </a:r>
          </a:p>
          <a:p>
            <a:endParaRPr lang="en-US" dirty="0"/>
          </a:p>
          <a:p>
            <a:r>
              <a:rPr lang="en-US" dirty="0" smtClean="0"/>
              <a:t>Uncertainty compounds</a:t>
            </a:r>
          </a:p>
          <a:p>
            <a:endParaRPr lang="en-US" dirty="0"/>
          </a:p>
          <a:p>
            <a:r>
              <a:rPr lang="en-US" dirty="0" smtClean="0"/>
              <a:t>Any others?</a:t>
            </a:r>
          </a:p>
        </p:txBody>
      </p:sp>
    </p:spTree>
    <p:extLst>
      <p:ext uri="{BB962C8B-B14F-4D97-AF65-F5344CB8AC3E}">
        <p14:creationId xmlns:p14="http://schemas.microsoft.com/office/powerpoint/2010/main" val="2160181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CPT requests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366" y="1091979"/>
            <a:ext cx="11559363" cy="5521472"/>
          </a:xfrm>
        </p:spPr>
        <p:txBody>
          <a:bodyPr/>
          <a:lstStyle/>
          <a:p>
            <a:r>
              <a:rPr lang="en-US" dirty="0" smtClean="0"/>
              <a:t>Assessment authors:</a:t>
            </a:r>
          </a:p>
          <a:p>
            <a:pPr lvl="1"/>
            <a:r>
              <a:rPr lang="en-US" dirty="0" smtClean="0"/>
              <a:t>Look at code to check data and assumptions like:</a:t>
            </a:r>
          </a:p>
          <a:p>
            <a:pPr lvl="2"/>
            <a:r>
              <a:rPr lang="en-US" dirty="0" smtClean="0"/>
              <a:t>Input data</a:t>
            </a:r>
          </a:p>
          <a:p>
            <a:pPr lvl="2"/>
            <a:r>
              <a:rPr lang="en-US" dirty="0" smtClean="0"/>
              <a:t>Timing of fishery</a:t>
            </a:r>
          </a:p>
          <a:p>
            <a:pPr lvl="2"/>
            <a:r>
              <a:rPr lang="en-US" dirty="0" smtClean="0"/>
              <a:t>Prior on other mortality</a:t>
            </a:r>
          </a:p>
          <a:p>
            <a:pPr lvl="2"/>
            <a:r>
              <a:rPr lang="en-US" dirty="0" smtClean="0"/>
              <a:t>Lag of recruitment</a:t>
            </a:r>
          </a:p>
          <a:p>
            <a:pPr lvl="2"/>
            <a:r>
              <a:rPr lang="en-US" dirty="0" smtClean="0"/>
              <a:t>Size transition matrices + molting probabilities</a:t>
            </a:r>
            <a:endParaRPr lang="en-US" dirty="0"/>
          </a:p>
          <a:p>
            <a:r>
              <a:rPr lang="en-US" dirty="0" smtClean="0"/>
              <a:t>Thoughts on if the estimated time series are ‘true’, how this changes your approach to management?</a:t>
            </a:r>
          </a:p>
          <a:p>
            <a:r>
              <a:rPr lang="en-US" dirty="0" smtClean="0"/>
              <a:t>How does one manage a stock that doesn’t display a SR curve and has strong episodic drivers of both mortality and recruitment?</a:t>
            </a:r>
          </a:p>
          <a:p>
            <a:endParaRPr lang="en-US" dirty="0" smtClean="0"/>
          </a:p>
          <a:p>
            <a:r>
              <a:rPr lang="en-US" dirty="0" smtClean="0"/>
              <a:t>Inviting the CPT and assessment authors to be coauthors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983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000" r="9375" b="5000"/>
          <a:stretch/>
        </p:blipFill>
        <p:spPr>
          <a:xfrm>
            <a:off x="0" y="0"/>
            <a:ext cx="122766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836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Things to add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Fits of stock recruit curves</a:t>
            </a:r>
          </a:p>
          <a:p>
            <a:r>
              <a:rPr lang="en-US" dirty="0" smtClean="0"/>
              <a:t>Implied stock recruit curves for current reference points</a:t>
            </a:r>
          </a:p>
          <a:p>
            <a:r>
              <a:rPr lang="en-US" dirty="0" smtClean="0"/>
              <a:t>Fit the models with constant ‘other mortality’ for comparison</a:t>
            </a:r>
          </a:p>
          <a:p>
            <a:r>
              <a:rPr lang="en-US" dirty="0" smtClean="0"/>
              <a:t>(other analyses of interest?)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85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841" y="113932"/>
            <a:ext cx="4387804" cy="3290853"/>
          </a:xfrm>
        </p:spPr>
      </p:pic>
      <p:sp>
        <p:nvSpPr>
          <p:cNvPr id="5" name="TextBox 4"/>
          <p:cNvSpPr txBox="1"/>
          <p:nvPr/>
        </p:nvSpPr>
        <p:spPr>
          <a:xfrm>
            <a:off x="6175973" y="3622969"/>
            <a:ext cx="50067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Immature mortality for snow and Tanner highly correlated with 2019 being highest for both stocks BUT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Highest temperatures for Tanner crab were during the blob, not the 2018-2019 marine heatwave (though still high).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Why did both Tanner and snow crab experience high mortality during 2019 heatwave?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15"/>
          <a:stretch/>
        </p:blipFill>
        <p:spPr>
          <a:xfrm>
            <a:off x="80691" y="0"/>
            <a:ext cx="5129415" cy="69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00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672"/>
            <a:ext cx="6271404" cy="627140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041" y="1496680"/>
            <a:ext cx="5486411" cy="36576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06242" y="284672"/>
            <a:ext cx="4813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Stock recruit relationships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79019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60" y="0"/>
            <a:ext cx="4286250" cy="6858000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685" y="-1237"/>
            <a:ext cx="4287023" cy="6859237"/>
          </a:xfrm>
        </p:spPr>
      </p:pic>
    </p:spTree>
    <p:extLst>
      <p:ext uri="{BB962C8B-B14F-4D97-AF65-F5344CB8AC3E}">
        <p14:creationId xmlns:p14="http://schemas.microsoft.com/office/powerpoint/2010/main" val="2385037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10440</TotalTime>
  <Words>1090</Words>
  <Application>Microsoft Office PowerPoint</Application>
  <PresentationFormat>Widescreen</PresentationFormat>
  <Paragraphs>255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Episodic drivers of Bering Sea crab populations</vt:lpstr>
      <vt:lpstr>Problem</vt:lpstr>
      <vt:lpstr>Can we model variation in ‘other’ mortality?</vt:lpstr>
      <vt:lpstr>Population dynamics</vt:lpstr>
      <vt:lpstr>Population dynamics</vt:lpstr>
      <vt:lpstr>PowerPoint Presentation</vt:lpstr>
      <vt:lpstr>What are these models?</vt:lpstr>
      <vt:lpstr>What are these models not?</vt:lpstr>
      <vt:lpstr>Output</vt:lpstr>
      <vt:lpstr>Output</vt:lpstr>
      <vt:lpstr>CPT requests</vt:lpstr>
      <vt:lpstr>Can we model variation in ‘other’ mortality?</vt:lpstr>
      <vt:lpstr>Tell the story of our stocks  Is current management appropriate?</vt:lpstr>
      <vt:lpstr>PowerPoint Presentation</vt:lpstr>
      <vt:lpstr>What happened?</vt:lpstr>
      <vt:lpstr>Did ‘it’ happen to other stocks?</vt:lpstr>
      <vt:lpstr>Why did ‘it’ happen?</vt:lpstr>
      <vt:lpstr>Why did ‘it’ happen?</vt:lpstr>
      <vt:lpstr>What happens next?</vt:lpstr>
      <vt:lpstr>What happens next?</vt:lpstr>
      <vt:lpstr>Arguments against</vt:lpstr>
      <vt:lpstr>CPT requests</vt:lpstr>
      <vt:lpstr>PowerPoint Presentation</vt:lpstr>
      <vt:lpstr>Things to add </vt:lpstr>
      <vt:lpstr>PowerPoint Presentation</vt:lpstr>
      <vt:lpstr>PowerPoint Presentation</vt:lpstr>
      <vt:lpstr>PowerPoint Presentation</vt:lpstr>
    </vt:vector>
  </TitlesOfParts>
  <Company>NOAA AFSC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Episodic drivers of Bering Sea crab populations</dc:title>
  <dc:creator>Cody.Szuwalski</dc:creator>
  <cp:lastModifiedBy>Cody.Szuwalski</cp:lastModifiedBy>
  <cp:revision>41</cp:revision>
  <dcterms:created xsi:type="dcterms:W3CDTF">2024-09-02T20:26:39Z</dcterms:created>
  <dcterms:modified xsi:type="dcterms:W3CDTF">2025-01-14T20:53:51Z</dcterms:modified>
</cp:coreProperties>
</file>